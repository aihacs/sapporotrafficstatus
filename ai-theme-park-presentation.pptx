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回のテーマはAI初学者、特に未経験者に火をつける方法です。私たちは、最初につまずく理由はAIの性能ではなく、何を聞けばいいかわからないことだと考えました。ChatGPTを開いても白い入力欄を前に最初の一言が出ない。その結果、自分にはまだ関係ないと感じてしまいます。講座に来る人はすでに火がついているので、今回は勉強道具として見せる前に、まず遊べる体験として見せる入口を作ることに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そこで作ったのがAIテーマパークです。絵師AI、作曲AI、就活AI、旅行AI、お料理AI、恋愛相談AI、アプリ作成AIなど、AIの能力をテーマパークのアトラクションのように分けました。ユーザーは気になるアトラクションを選び、遊ぶボタンを押すだけで専用プロンプトを見られます。価値は、迷わず始められること、自分の興味に近い入口から入れること、登録やAPIキーなしでURLを開くだけで遊べることです。説明から入らず、小さな成功体験から入る点が違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体験の流れはシンプルです。まずサイトを開くとAIテーマパークの入口が表示されます。次におすすめ診断で5つの質問に答えます。すると自分に合ったAIアトラクションが3つ表示されます。そこから、このAIで遊ぶを押すと専用プロンプトが表示され、コピーしてChatGPTで開くを押せば、あとは貼るだけです。例えばお料理AIなら食材や食べたい味を聞いてレシピを提案してくれます。アプリ作成AIなら目的を聞きながら機能、画面構成、最初に作るMVPまで整理します。今回は静的サイトとして動く範囲に絞り、ログイン、履歴保存、API接続は削りました。それでは実際に、診断からプロンプトをコピーするところまでお見せ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/>
          <p:cNvPicPr>
            <a:picLocks noChangeAspect="1"/>
          </p:cNvPicPr>
          <p:nvPr/>
        </p:nvPicPr>
        <p:blipFill>
          <a:blip r:embed="rId3"/>
          <a:srcRect l="25378" r="25378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9606C2D-15E6-4530-9E2E-E2F78CECCE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24700" cy="6858000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2C6D3D4-49E6-4F22-BF17-4016BC1E189B}"/>
              </a:ext>
            </a:extLst>
          </p:cNvPr>
          <p:cNvSpPr>
            <a:spLocks noGrp="1"/>
          </p:cNvSpPr>
          <p:nvPr/>
        </p:nvSpPr>
        <p:spPr>
          <a:xfrm>
            <a:off x="723900" y="685800"/>
            <a:ext cx="819150" cy="819150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E41E5DB-FFEF-497C-8D59-94A07C272A45}"/>
              </a:ext>
            </a:extLst>
          </p:cNvPr>
          <p:cNvSpPr>
            <a:spLocks noGrp="1"/>
          </p:cNvSpPr>
          <p:nvPr/>
        </p:nvSpPr>
        <p:spPr>
          <a:xfrm>
            <a:off x="895350" y="895350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AI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AE1A07-AC8F-4E3A-8D90-2E3461CBC1E5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47B7B"/>
                </a:solidFill>
              </a:defRPr>
            </a:pPr>
            <a:r>
              <a:rPr sz="1200" b="1" dirty="0">
                <a:solidFill>
                  <a:srgbClr val="047B7B"/>
                </a:solidFill>
              </a:rPr>
              <a:t>SLIDE 1  |  </a:t>
            </a:r>
            <a:r>
              <a:rPr sz="1200" b="1" dirty="0" err="1">
                <a:solidFill>
                  <a:srgbClr val="047B7B"/>
                </a:solidFill>
              </a:rPr>
              <a:t>テーマ解釈</a:t>
            </a:r>
            <a:r>
              <a:rPr sz="1200" b="1" dirty="0">
                <a:solidFill>
                  <a:srgbClr val="047B7B"/>
                </a:solidFill>
              </a:rPr>
              <a:t> / </a:t>
            </a:r>
            <a:r>
              <a:rPr sz="1200" b="1" dirty="0" err="1">
                <a:solidFill>
                  <a:srgbClr val="047B7B"/>
                </a:solidFill>
              </a:rPr>
              <a:t>課題</a:t>
            </a:r>
            <a:endParaRPr sz="1200" b="1" dirty="0">
              <a:solidFill>
                <a:srgbClr val="047B7B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E25C2DD-A395-44C3-8999-067DF9F6DCAB}"/>
              </a:ext>
            </a:extLst>
          </p:cNvPr>
          <p:cNvSpPr>
            <a:spLocks noGrp="1"/>
          </p:cNvSpPr>
          <p:nvPr/>
        </p:nvSpPr>
        <p:spPr>
          <a:xfrm>
            <a:off x="723899" y="2076450"/>
            <a:ext cx="6000749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>
                <a:solidFill>
                  <a:srgbClr val="17202A"/>
                </a:solidFill>
              </a:defRPr>
            </a:pPr>
            <a:r>
              <a:rPr sz="3750" b="1" dirty="0" err="1">
                <a:solidFill>
                  <a:srgbClr val="17202A"/>
                </a:solidFill>
              </a:rPr>
              <a:t>火をつけるとは</a:t>
            </a:r>
            <a:r>
              <a:rPr sz="3750" b="1" dirty="0">
                <a:solidFill>
                  <a:srgbClr val="17202A"/>
                </a:solidFill>
              </a:rPr>
              <a:t>、</a:t>
            </a:r>
          </a:p>
          <a:p>
            <a:pPr>
              <a:defRPr sz="3750" b="1">
                <a:solidFill>
                  <a:srgbClr val="17202A"/>
                </a:solidFill>
              </a:defRPr>
            </a:pPr>
            <a:r>
              <a:rPr sz="3750" b="1" dirty="0" err="1">
                <a:solidFill>
                  <a:srgbClr val="17202A"/>
                </a:solidFill>
              </a:rPr>
              <a:t>最初の一言を出せること</a:t>
            </a:r>
            <a:r>
              <a:rPr sz="3750" b="1" dirty="0">
                <a:solidFill>
                  <a:srgbClr val="17202A"/>
                </a:solidFill>
              </a:rPr>
              <a:t>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5E9F461-32AC-4B2F-87E3-8D21EF2B337B}"/>
              </a:ext>
            </a:extLst>
          </p:cNvPr>
          <p:cNvSpPr>
            <a:spLocks noGrp="1"/>
          </p:cNvSpPr>
          <p:nvPr/>
        </p:nvSpPr>
        <p:spPr>
          <a:xfrm>
            <a:off x="762000" y="3829050"/>
            <a:ext cx="5219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586575"/>
                </a:solidFill>
              </a:defRPr>
            </a:pPr>
            <a:r>
              <a:rPr sz="1800">
                <a:solidFill>
                  <a:srgbClr val="586575"/>
                </a:solidFill>
              </a:rPr>
              <a:t>AI未経験者の壁は、AIの性能不足ではなく「何を聞けばいいかわからない」こと。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D84A8F0-CDBB-4748-9A36-012B896C2D3C}"/>
              </a:ext>
            </a:extLst>
          </p:cNvPr>
          <p:cNvSpPr>
            <a:spLocks noGrp="1"/>
          </p:cNvSpPr>
          <p:nvPr/>
        </p:nvSpPr>
        <p:spPr>
          <a:xfrm>
            <a:off x="781050" y="4886325"/>
            <a:ext cx="114300" cy="438150"/>
          </a:xfrm>
          <a:prstGeom prst="roundRect">
            <a:avLst>
              <a:gd name="adj" fmla="val 16667"/>
            </a:avLst>
          </a:prstGeom>
          <a:solidFill>
            <a:srgbClr val="03A6A6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5368D34-7937-4C6D-B046-05BA925E3F58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選んだ解釈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9650C1D-5AEC-4A7D-9B81-367F13E7D45F}"/>
              </a:ext>
            </a:extLst>
          </p:cNvPr>
          <p:cNvSpPr>
            <a:spLocks noGrp="1"/>
          </p:cNvSpPr>
          <p:nvPr/>
        </p:nvSpPr>
        <p:spPr>
          <a:xfrm>
            <a:off x="1047750" y="516255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86575"/>
                </a:solidFill>
              </a:defRPr>
            </a:pPr>
            <a:r>
              <a:rPr sz="1275">
                <a:solidFill>
                  <a:srgbClr val="586575"/>
                </a:solidFill>
              </a:rPr>
              <a:t>講座で教える前に、まず触ってみたい入口を作る。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4AE18483-0E12-479A-B0AB-BED6EF50280C}"/>
              </a:ext>
            </a:extLst>
          </p:cNvPr>
          <p:cNvSpPr>
            <a:spLocks noGrp="1"/>
          </p:cNvSpPr>
          <p:nvPr/>
        </p:nvSpPr>
        <p:spPr>
          <a:xfrm>
            <a:off x="781050" y="5724525"/>
            <a:ext cx="114300" cy="438150"/>
          </a:xfrm>
          <a:prstGeom prst="roundRect">
            <a:avLst>
              <a:gd name="adj" fmla="val 16667"/>
            </a:avLst>
          </a:prstGeom>
          <a:solidFill>
            <a:srgbClr val="FF6B5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D15DBCD-62E5-4C07-BD47-D2ADF8052466}"/>
              </a:ext>
            </a:extLst>
          </p:cNvPr>
          <p:cNvSpPr>
            <a:spLocks noGrp="1"/>
          </p:cNvSpPr>
          <p:nvPr/>
        </p:nvSpPr>
        <p:spPr>
          <a:xfrm>
            <a:off x="1047750" y="56959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捨てた選択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E23DCB5-74DC-4E7A-936A-AA051AC8241C}"/>
              </a:ext>
            </a:extLst>
          </p:cNvPr>
          <p:cNvSpPr>
            <a:spLocks noGrp="1"/>
          </p:cNvSpPr>
          <p:nvPr/>
        </p:nvSpPr>
        <p:spPr>
          <a:xfrm>
            <a:off x="1047750" y="600075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86575"/>
                </a:solidFill>
              </a:defRPr>
            </a:pPr>
            <a:r>
              <a:rPr sz="1275">
                <a:solidFill>
                  <a:srgbClr val="586575"/>
                </a:solidFill>
              </a:rPr>
              <a:t>機能説明、プロンプト講座、API連携は、未経験者には入口が重い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9F39AB2-EFB4-45E4-B69B-3F0B7D198D92}"/>
              </a:ext>
            </a:extLst>
          </p:cNvPr>
          <p:cNvSpPr>
            <a:spLocks noGrp="1"/>
          </p:cNvSpPr>
          <p:nvPr/>
        </p:nvSpPr>
        <p:spPr>
          <a:xfrm>
            <a:off x="11106150" y="61341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9AA6B2"/>
                </a:solidFill>
              </a:defRPr>
            </a:pPr>
            <a:r>
              <a:rPr sz="1350" b="1">
                <a:solidFill>
                  <a:srgbClr val="9AA6B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316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6526CB6-B813-48A2-88FF-106F1FD2FFB6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47B7B"/>
                </a:solidFill>
              </a:defRPr>
            </a:pPr>
            <a:r>
              <a:rPr sz="1200" b="1">
                <a:solidFill>
                  <a:srgbClr val="047B7B"/>
                </a:solidFill>
              </a:rPr>
              <a:t>SLIDE 2  |  アイデア / 価値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27ACE98-EE77-43BE-A5B5-59B53E186A18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5048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AIテーマパーク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E294E86-75D6-41E8-8F20-EAA874E3E883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586575"/>
                </a:solidFill>
              </a:defRPr>
            </a:pPr>
            <a:r>
              <a:rPr sz="1725">
                <a:solidFill>
                  <a:srgbClr val="586575"/>
                </a:solidFill>
              </a:rPr>
              <a:t>AIの能力を“アトラクション”に変え、興味から選べる体験サイト。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55CDD2E-F123-438C-B508-38091DEEDFBF}"/>
              </a:ext>
            </a:extLst>
          </p:cNvPr>
          <p:cNvSpPr>
            <a:spLocks noGrp="1"/>
          </p:cNvSpPr>
          <p:nvPr/>
        </p:nvSpPr>
        <p:spPr>
          <a:xfrm>
            <a:off x="7105650" y="742950"/>
            <a:ext cx="17907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C551EC0-B67A-4DDE-9E3D-EDC7115B1B41}"/>
              </a:ext>
            </a:extLst>
          </p:cNvPr>
          <p:cNvSpPr>
            <a:spLocks noGrp="1"/>
          </p:cNvSpPr>
          <p:nvPr/>
        </p:nvSpPr>
        <p:spPr>
          <a:xfrm>
            <a:off x="7105650" y="742950"/>
            <a:ext cx="1790700" cy="76200"/>
          </a:xfrm>
          <a:prstGeom prst="roundRect">
            <a:avLst>
              <a:gd name="adj" fmla="val 0"/>
            </a:avLst>
          </a:prstGeom>
          <a:solidFill>
            <a:srgbClr val="EF5DA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B17F0EF-8888-44A7-B4F2-9E4ED0814082}"/>
              </a:ext>
            </a:extLst>
          </p:cNvPr>
          <p:cNvSpPr>
            <a:spLocks noGrp="1"/>
          </p:cNvSpPr>
          <p:nvPr/>
        </p:nvSpPr>
        <p:spPr>
          <a:xfrm>
            <a:off x="7277100" y="9906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絵師AI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781A831-D47B-48E0-A5B6-A0567C70DB96}"/>
              </a:ext>
            </a:extLst>
          </p:cNvPr>
          <p:cNvSpPr>
            <a:spLocks noGrp="1"/>
          </p:cNvSpPr>
          <p:nvPr/>
        </p:nvSpPr>
        <p:spPr>
          <a:xfrm>
            <a:off x="7277100" y="12763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86575"/>
                </a:solidFill>
              </a:defRPr>
            </a:pPr>
            <a:r>
              <a:rPr sz="1125">
                <a:solidFill>
                  <a:srgbClr val="586575"/>
                </a:solidFill>
              </a:rPr>
              <a:t>画像指示文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536E0ED-A966-40FC-A68E-2AB4EF9E7682}"/>
              </a:ext>
            </a:extLst>
          </p:cNvPr>
          <p:cNvSpPr>
            <a:spLocks noGrp="1"/>
          </p:cNvSpPr>
          <p:nvPr/>
        </p:nvSpPr>
        <p:spPr>
          <a:xfrm>
            <a:off x="9144000" y="742950"/>
            <a:ext cx="17907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8AFD9A9-D83C-40CB-8069-7C39EBF7BFCE}"/>
              </a:ext>
            </a:extLst>
          </p:cNvPr>
          <p:cNvSpPr>
            <a:spLocks noGrp="1"/>
          </p:cNvSpPr>
          <p:nvPr/>
        </p:nvSpPr>
        <p:spPr>
          <a:xfrm>
            <a:off x="9144000" y="742950"/>
            <a:ext cx="1790700" cy="76200"/>
          </a:xfrm>
          <a:prstGeom prst="roundRect">
            <a:avLst>
              <a:gd name="adj" fmla="val 0"/>
            </a:avLst>
          </a:prstGeom>
          <a:solidFill>
            <a:srgbClr val="3978E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85CEFEB-56B6-4AA2-9FD9-E219D3C99E56}"/>
              </a:ext>
            </a:extLst>
          </p:cNvPr>
          <p:cNvSpPr>
            <a:spLocks noGrp="1"/>
          </p:cNvSpPr>
          <p:nvPr/>
        </p:nvSpPr>
        <p:spPr>
          <a:xfrm>
            <a:off x="9315450" y="9906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作曲AI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2B41153-3057-44BE-A317-59A6C375ECF8}"/>
              </a:ext>
            </a:extLst>
          </p:cNvPr>
          <p:cNvSpPr>
            <a:spLocks noGrp="1"/>
          </p:cNvSpPr>
          <p:nvPr/>
        </p:nvSpPr>
        <p:spPr>
          <a:xfrm>
            <a:off x="9315450" y="12763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86575"/>
                </a:solidFill>
              </a:defRPr>
            </a:pPr>
            <a:r>
              <a:rPr sz="1125">
                <a:solidFill>
                  <a:srgbClr val="586575"/>
                </a:solidFill>
              </a:rPr>
              <a:t>歌詞・曲調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9F6794A-3B6D-4DAA-84FF-79A0C6371319}"/>
              </a:ext>
            </a:extLst>
          </p:cNvPr>
          <p:cNvSpPr>
            <a:spLocks noGrp="1"/>
          </p:cNvSpPr>
          <p:nvPr/>
        </p:nvSpPr>
        <p:spPr>
          <a:xfrm>
            <a:off x="7105650" y="1866900"/>
            <a:ext cx="17907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9FB90239-73A1-415D-ABBC-24F6F2E81646}"/>
              </a:ext>
            </a:extLst>
          </p:cNvPr>
          <p:cNvSpPr>
            <a:spLocks noGrp="1"/>
          </p:cNvSpPr>
          <p:nvPr/>
        </p:nvSpPr>
        <p:spPr>
          <a:xfrm>
            <a:off x="7105650" y="1866900"/>
            <a:ext cx="1790700" cy="76200"/>
          </a:xfrm>
          <a:prstGeom prst="roundRect">
            <a:avLst>
              <a:gd name="adj" fmla="val 0"/>
            </a:avLst>
          </a:prstGeom>
          <a:solidFill>
            <a:srgbClr val="03A6A6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2D1F8A8-9F4C-4B46-91FA-4C6582878324}"/>
              </a:ext>
            </a:extLst>
          </p:cNvPr>
          <p:cNvSpPr>
            <a:spLocks noGrp="1"/>
          </p:cNvSpPr>
          <p:nvPr/>
        </p:nvSpPr>
        <p:spPr>
          <a:xfrm>
            <a:off x="7277100" y="21145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就活AI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8F87CC1-2B78-4553-8E5C-3F1A219D94B2}"/>
              </a:ext>
            </a:extLst>
          </p:cNvPr>
          <p:cNvSpPr>
            <a:spLocks noGrp="1"/>
          </p:cNvSpPr>
          <p:nvPr/>
        </p:nvSpPr>
        <p:spPr>
          <a:xfrm>
            <a:off x="7277100" y="24003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86575"/>
                </a:solidFill>
              </a:defRPr>
            </a:pPr>
            <a:r>
              <a:rPr sz="1125">
                <a:solidFill>
                  <a:srgbClr val="586575"/>
                </a:solidFill>
              </a:rPr>
              <a:t>自己PR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29EF1516-0BB5-4B67-AFA5-E4A0DCAF1DAD}"/>
              </a:ext>
            </a:extLst>
          </p:cNvPr>
          <p:cNvSpPr>
            <a:spLocks noGrp="1"/>
          </p:cNvSpPr>
          <p:nvPr/>
        </p:nvSpPr>
        <p:spPr>
          <a:xfrm>
            <a:off x="9144000" y="1866900"/>
            <a:ext cx="17907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CEC4D374-D37E-4643-8542-61D87D693B10}"/>
              </a:ext>
            </a:extLst>
          </p:cNvPr>
          <p:cNvSpPr>
            <a:spLocks noGrp="1"/>
          </p:cNvSpPr>
          <p:nvPr/>
        </p:nvSpPr>
        <p:spPr>
          <a:xfrm>
            <a:off x="9144000" y="1866900"/>
            <a:ext cx="1790700" cy="76200"/>
          </a:xfrm>
          <a:prstGeom prst="roundRect">
            <a:avLst>
              <a:gd name="adj" fmla="val 0"/>
            </a:avLst>
          </a:prstGeom>
          <a:solidFill>
            <a:srgbClr val="FF6B5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F3DB1FE-68B1-4D06-8497-03FA76CE5435}"/>
              </a:ext>
            </a:extLst>
          </p:cNvPr>
          <p:cNvSpPr>
            <a:spLocks noGrp="1"/>
          </p:cNvSpPr>
          <p:nvPr/>
        </p:nvSpPr>
        <p:spPr>
          <a:xfrm>
            <a:off x="9315450" y="21145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旅行AI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5AE9DB4-1214-4F34-AAA5-04B68EC7ABDF}"/>
              </a:ext>
            </a:extLst>
          </p:cNvPr>
          <p:cNvSpPr>
            <a:spLocks noGrp="1"/>
          </p:cNvSpPr>
          <p:nvPr/>
        </p:nvSpPr>
        <p:spPr>
          <a:xfrm>
            <a:off x="9315450" y="24003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86575"/>
                </a:solidFill>
              </a:defRPr>
            </a:pPr>
            <a:r>
              <a:rPr sz="1125">
                <a:solidFill>
                  <a:srgbClr val="586575"/>
                </a:solidFill>
              </a:rPr>
              <a:t>旅程・予算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0A3A2783-D3D0-400A-83F5-D7E0FFCBC2C0}"/>
              </a:ext>
            </a:extLst>
          </p:cNvPr>
          <p:cNvSpPr>
            <a:spLocks noGrp="1"/>
          </p:cNvSpPr>
          <p:nvPr/>
        </p:nvSpPr>
        <p:spPr>
          <a:xfrm>
            <a:off x="7105650" y="2990850"/>
            <a:ext cx="17907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36E9A4C9-B5C3-4DEA-AD73-A52C7563D241}"/>
              </a:ext>
            </a:extLst>
          </p:cNvPr>
          <p:cNvSpPr>
            <a:spLocks noGrp="1"/>
          </p:cNvSpPr>
          <p:nvPr/>
        </p:nvSpPr>
        <p:spPr>
          <a:xfrm>
            <a:off x="7105650" y="2990850"/>
            <a:ext cx="1790700" cy="76200"/>
          </a:xfrm>
          <a:prstGeom prst="roundRect">
            <a:avLst>
              <a:gd name="adj" fmla="val 0"/>
            </a:avLst>
          </a:prstGeom>
          <a:solidFill>
            <a:srgbClr val="6AC46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7AA0C0D-49DB-43BE-AE4D-74242F771523}"/>
              </a:ext>
            </a:extLst>
          </p:cNvPr>
          <p:cNvSpPr>
            <a:spLocks noGrp="1"/>
          </p:cNvSpPr>
          <p:nvPr/>
        </p:nvSpPr>
        <p:spPr>
          <a:xfrm>
            <a:off x="7277100" y="3238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お料理AI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A2FACFD-C212-462E-A771-ABE1D64591FC}"/>
              </a:ext>
            </a:extLst>
          </p:cNvPr>
          <p:cNvSpPr>
            <a:spLocks noGrp="1"/>
          </p:cNvSpPr>
          <p:nvPr/>
        </p:nvSpPr>
        <p:spPr>
          <a:xfrm>
            <a:off x="7277100" y="35242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86575"/>
                </a:solidFill>
              </a:defRPr>
            </a:pPr>
            <a:r>
              <a:rPr sz="1125">
                <a:solidFill>
                  <a:srgbClr val="586575"/>
                </a:solidFill>
              </a:rPr>
              <a:t>今日のレシピ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40A3A054-8971-498D-A4AB-AB48DC6EE298}"/>
              </a:ext>
            </a:extLst>
          </p:cNvPr>
          <p:cNvSpPr>
            <a:spLocks noGrp="1"/>
          </p:cNvSpPr>
          <p:nvPr/>
        </p:nvSpPr>
        <p:spPr>
          <a:xfrm>
            <a:off x="9144000" y="2990850"/>
            <a:ext cx="17907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CB600D70-D347-4C56-B3E3-3A73958E5F4F}"/>
              </a:ext>
            </a:extLst>
          </p:cNvPr>
          <p:cNvSpPr>
            <a:spLocks noGrp="1"/>
          </p:cNvSpPr>
          <p:nvPr/>
        </p:nvSpPr>
        <p:spPr>
          <a:xfrm>
            <a:off x="9144000" y="2990850"/>
            <a:ext cx="1790700" cy="76200"/>
          </a:xfrm>
          <a:prstGeom prst="roundRect">
            <a:avLst>
              <a:gd name="adj" fmla="val 0"/>
            </a:avLst>
          </a:prstGeom>
          <a:solidFill>
            <a:srgbClr val="7B61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5AF685D-95B9-411C-94A3-E90A440606BC}"/>
              </a:ext>
            </a:extLst>
          </p:cNvPr>
          <p:cNvSpPr>
            <a:spLocks noGrp="1"/>
          </p:cNvSpPr>
          <p:nvPr/>
        </p:nvSpPr>
        <p:spPr>
          <a:xfrm>
            <a:off x="9315450" y="3238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アプリ作成AI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61B7C49-5411-496D-B994-A95B01E03F0E}"/>
              </a:ext>
            </a:extLst>
          </p:cNvPr>
          <p:cNvSpPr>
            <a:spLocks noGrp="1"/>
          </p:cNvSpPr>
          <p:nvPr/>
        </p:nvSpPr>
        <p:spPr>
          <a:xfrm>
            <a:off x="9315450" y="35242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86575"/>
                </a:solidFill>
              </a:defRPr>
            </a:pPr>
            <a:r>
              <a:rPr sz="1125">
                <a:solidFill>
                  <a:srgbClr val="586575"/>
                </a:solidFill>
              </a:rPr>
              <a:t>MVP設計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FF7713E6-0772-4395-AD3B-F74157690EE7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3086100" cy="2419350"/>
          </a:xfrm>
          <a:prstGeom prst="roundRect">
            <a:avLst>
              <a:gd name="adj" fmla="val 3150"/>
            </a:avLst>
          </a:prstGeom>
          <a:solidFill>
            <a:srgbClr val="F5FFF7"/>
          </a:solidFill>
          <a:ln w="9525">
            <a:solidFill>
              <a:srgbClr val="B8E7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74C475B-F4EE-419B-A4EA-2C4773B2D4AE}"/>
              </a:ext>
            </a:extLst>
          </p:cNvPr>
          <p:cNvSpPr>
            <a:spLocks noGrp="1"/>
          </p:cNvSpPr>
          <p:nvPr/>
        </p:nvSpPr>
        <p:spPr>
          <a:xfrm>
            <a:off x="971550" y="28956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47B7B"/>
                </a:solidFill>
              </a:defRPr>
            </a:pPr>
            <a:r>
              <a:rPr sz="1350" b="1">
                <a:solidFill>
                  <a:srgbClr val="047B7B"/>
                </a:solidFill>
              </a:rPr>
              <a:t>価値 1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3335E8A-B224-4FA7-9A0C-A67924A41F52}"/>
              </a:ext>
            </a:extLst>
          </p:cNvPr>
          <p:cNvSpPr>
            <a:spLocks noGrp="1"/>
          </p:cNvSpPr>
          <p:nvPr/>
        </p:nvSpPr>
        <p:spPr>
          <a:xfrm>
            <a:off x="971550" y="32575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迷わず始められる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77D5642-B596-4F19-A449-860DF9291C1B}"/>
              </a:ext>
            </a:extLst>
          </p:cNvPr>
          <p:cNvSpPr>
            <a:spLocks noGrp="1"/>
          </p:cNvSpPr>
          <p:nvPr/>
        </p:nvSpPr>
        <p:spPr>
          <a:xfrm>
            <a:off x="971550" y="3771900"/>
            <a:ext cx="228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86575"/>
                </a:solidFill>
              </a:defRPr>
            </a:pPr>
            <a:r>
              <a:rPr sz="1350">
                <a:solidFill>
                  <a:srgbClr val="586575"/>
                </a:solidFill>
              </a:rPr>
              <a:t>URLを開くだけ。登録・APIキーなしで、すぐ体験に入れる。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9C01FF2D-58C0-4FAC-A949-2A9E8DF61CE5}"/>
              </a:ext>
            </a:extLst>
          </p:cNvPr>
          <p:cNvSpPr>
            <a:spLocks noGrp="1"/>
          </p:cNvSpPr>
          <p:nvPr/>
        </p:nvSpPr>
        <p:spPr>
          <a:xfrm>
            <a:off x="3895725" y="2609850"/>
            <a:ext cx="3086100" cy="2419350"/>
          </a:xfrm>
          <a:prstGeom prst="roundRect">
            <a:avLst>
              <a:gd name="adj" fmla="val 3150"/>
            </a:avLst>
          </a:prstGeom>
          <a:solidFill>
            <a:srgbClr val="FFF8E6"/>
          </a:solidFill>
          <a:ln w="9525">
            <a:solidFill>
              <a:srgbClr val="F6D9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33EC6D9-6F55-4D69-9FAA-EA5D80A1E90A}"/>
              </a:ext>
            </a:extLst>
          </p:cNvPr>
          <p:cNvSpPr>
            <a:spLocks noGrp="1"/>
          </p:cNvSpPr>
          <p:nvPr/>
        </p:nvSpPr>
        <p:spPr>
          <a:xfrm>
            <a:off x="4381500" y="28956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67A00"/>
                </a:solidFill>
              </a:defRPr>
            </a:pPr>
            <a:r>
              <a:rPr sz="1350" b="1">
                <a:solidFill>
                  <a:srgbClr val="B67A00"/>
                </a:solidFill>
              </a:rPr>
              <a:t>価値 2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787825E7-2032-422A-A3D9-5FBD57E00621}"/>
              </a:ext>
            </a:extLst>
          </p:cNvPr>
          <p:cNvSpPr>
            <a:spLocks noGrp="1"/>
          </p:cNvSpPr>
          <p:nvPr/>
        </p:nvSpPr>
        <p:spPr>
          <a:xfrm>
            <a:off x="4381500" y="32575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興味から入れる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474B98F-82E0-4E1D-BE34-B7620F40FD81}"/>
              </a:ext>
            </a:extLst>
          </p:cNvPr>
          <p:cNvSpPr>
            <a:spLocks noGrp="1"/>
          </p:cNvSpPr>
          <p:nvPr/>
        </p:nvSpPr>
        <p:spPr>
          <a:xfrm>
            <a:off x="4381500" y="3771900"/>
            <a:ext cx="2266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86575"/>
                </a:solidFill>
              </a:defRPr>
            </a:pPr>
            <a:r>
              <a:rPr sz="1350">
                <a:solidFill>
                  <a:srgbClr val="586575"/>
                </a:solidFill>
              </a:rPr>
              <a:t>勉強、料理、旅行、創作など、自分ごとの入口でAIに触れる。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C6E6062C-033D-48D2-9960-2501A034B232}"/>
              </a:ext>
            </a:extLst>
          </p:cNvPr>
          <p:cNvSpPr>
            <a:spLocks noGrp="1"/>
          </p:cNvSpPr>
          <p:nvPr/>
        </p:nvSpPr>
        <p:spPr>
          <a:xfrm>
            <a:off x="7277100" y="4181475"/>
            <a:ext cx="3467101" cy="1952625"/>
          </a:xfrm>
          <a:prstGeom prst="roundRect">
            <a:avLst>
              <a:gd name="adj" fmla="val 4651"/>
            </a:avLst>
          </a:prstGeom>
          <a:solidFill>
            <a:srgbClr val="FFF4F2"/>
          </a:solidFill>
          <a:ln w="9525">
            <a:solidFill>
              <a:srgbClr val="FFC7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39E894F-9D03-49E7-BCFD-2D3A98EA60A8}"/>
              </a:ext>
            </a:extLst>
          </p:cNvPr>
          <p:cNvSpPr>
            <a:spLocks noGrp="1"/>
          </p:cNvSpPr>
          <p:nvPr/>
        </p:nvSpPr>
        <p:spPr>
          <a:xfrm>
            <a:off x="7391400" y="4291012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6B5F"/>
                </a:solidFill>
              </a:defRPr>
            </a:pPr>
            <a:r>
              <a:rPr sz="1350" b="1" dirty="0" err="1">
                <a:solidFill>
                  <a:srgbClr val="FF6B5F"/>
                </a:solidFill>
              </a:rPr>
              <a:t>違うポイント</a:t>
            </a:r>
            <a:endParaRPr sz="1350" b="1" dirty="0">
              <a:solidFill>
                <a:srgbClr val="FF6B5F"/>
              </a:solidFill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924AFF2A-97D9-4E67-952C-E800F13403F9}"/>
              </a:ext>
            </a:extLst>
          </p:cNvPr>
          <p:cNvSpPr>
            <a:spLocks noGrp="1"/>
          </p:cNvSpPr>
          <p:nvPr/>
        </p:nvSpPr>
        <p:spPr>
          <a:xfrm>
            <a:off x="7402558" y="4600575"/>
            <a:ext cx="3295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7202A"/>
                </a:solidFill>
              </a:defRPr>
            </a:pPr>
            <a:r>
              <a:rPr sz="2100" b="1" dirty="0" err="1">
                <a:solidFill>
                  <a:srgbClr val="17202A"/>
                </a:solidFill>
              </a:rPr>
              <a:t>説明より先に、成功体験</a:t>
            </a:r>
            <a:endParaRPr sz="2100" b="1" dirty="0">
              <a:solidFill>
                <a:srgbClr val="17202A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81701E30-9FA0-46D8-9148-E24BF4143E78}"/>
              </a:ext>
            </a:extLst>
          </p:cNvPr>
          <p:cNvSpPr>
            <a:spLocks noGrp="1"/>
          </p:cNvSpPr>
          <p:nvPr/>
        </p:nvSpPr>
        <p:spPr>
          <a:xfrm>
            <a:off x="7467600" y="5024846"/>
            <a:ext cx="3086100" cy="9037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86575"/>
                </a:solidFill>
              </a:defRPr>
            </a:pPr>
            <a:r>
              <a:rPr sz="1350" dirty="0" err="1">
                <a:solidFill>
                  <a:srgbClr val="586575"/>
                </a:solidFill>
              </a:rPr>
              <a:t>専用プロンプトをコピーしてChatGPTに貼るだけで、AIが質問しながら進めてくれる</a:t>
            </a:r>
            <a:r>
              <a:rPr sz="1350" dirty="0">
                <a:solidFill>
                  <a:srgbClr val="586575"/>
                </a:solidFill>
              </a:rPr>
              <a:t>。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4CD2A3E-B051-411C-B999-BE8B3C3657D4}"/>
              </a:ext>
            </a:extLst>
          </p:cNvPr>
          <p:cNvSpPr>
            <a:spLocks noGrp="1"/>
          </p:cNvSpPr>
          <p:nvPr/>
        </p:nvSpPr>
        <p:spPr>
          <a:xfrm>
            <a:off x="11106150" y="61341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9AA6B2"/>
                </a:solidFill>
              </a:defRPr>
            </a:pPr>
            <a:r>
              <a:rPr sz="1350" b="1">
                <a:solidFill>
                  <a:srgbClr val="9AA6B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0483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90DBBDE2-CF0D-4C1B-B4D8-2348E7561AFB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47B7B"/>
                </a:solidFill>
              </a:defRPr>
            </a:pPr>
            <a:r>
              <a:rPr sz="1200" b="1">
                <a:solidFill>
                  <a:srgbClr val="047B7B"/>
                </a:solidFill>
              </a:rPr>
              <a:t>SLIDE 3  |  体験 / デモ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0259CED-6153-4B61-B9C6-AAFE680BAFB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5143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5問診断から、</a:t>
            </a:r>
          </a:p>
          <a:p>
            <a:pPr>
              <a:defRPr sz="3600" b="1">
                <a:solidFill>
                  <a:srgbClr val="17202A"/>
                </a:solidFill>
              </a:defRPr>
            </a:pPr>
            <a:r>
              <a:rPr sz="3600" b="1">
                <a:solidFill>
                  <a:srgbClr val="17202A"/>
                </a:solidFill>
              </a:rPr>
              <a:t>ChatGPTで遊ぶまで。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7CF2E2F-D4AA-4450-8856-8332B31734CF}"/>
              </a:ext>
            </a:extLst>
          </p:cNvPr>
          <p:cNvSpPr>
            <a:spLocks noGrp="1"/>
          </p:cNvSpPr>
          <p:nvPr/>
        </p:nvSpPr>
        <p:spPr>
          <a:xfrm>
            <a:off x="704850" y="2190750"/>
            <a:ext cx="5619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586575"/>
                </a:solidFill>
              </a:defRPr>
            </a:pPr>
            <a:r>
              <a:rPr sz="1650" dirty="0" err="1">
                <a:solidFill>
                  <a:srgbClr val="586575"/>
                </a:solidFill>
              </a:rPr>
              <a:t>ユーザーは</a:t>
            </a:r>
            <a:r>
              <a:rPr lang="en-US" sz="1650" dirty="0">
                <a:solidFill>
                  <a:srgbClr val="586575"/>
                </a:solidFill>
              </a:rPr>
              <a:t> </a:t>
            </a:r>
            <a:r>
              <a:rPr sz="1650" dirty="0">
                <a:solidFill>
                  <a:srgbClr val="586575"/>
                </a:solidFill>
              </a:rPr>
              <a:t>“</a:t>
            </a:r>
            <a:r>
              <a:rPr sz="1650" dirty="0" err="1">
                <a:solidFill>
                  <a:srgbClr val="586575"/>
                </a:solidFill>
              </a:rPr>
              <a:t>選ぶ</a:t>
            </a:r>
            <a:r>
              <a:rPr sz="1650" dirty="0">
                <a:solidFill>
                  <a:srgbClr val="586575"/>
                </a:solidFill>
              </a:rPr>
              <a:t> → </a:t>
            </a:r>
            <a:r>
              <a:rPr sz="1650" dirty="0" err="1">
                <a:solidFill>
                  <a:srgbClr val="586575"/>
                </a:solidFill>
              </a:rPr>
              <a:t>コピーする</a:t>
            </a:r>
            <a:r>
              <a:rPr sz="1650" dirty="0">
                <a:solidFill>
                  <a:srgbClr val="586575"/>
                </a:solidFill>
              </a:rPr>
              <a:t> → </a:t>
            </a:r>
            <a:r>
              <a:rPr sz="1650" dirty="0" err="1">
                <a:solidFill>
                  <a:srgbClr val="586575"/>
                </a:solidFill>
              </a:rPr>
              <a:t>試す</a:t>
            </a:r>
            <a:r>
              <a:rPr sz="1650" dirty="0">
                <a:solidFill>
                  <a:srgbClr val="586575"/>
                </a:solidFill>
              </a:rPr>
              <a:t>”</a:t>
            </a:r>
            <a:r>
              <a:rPr lang="en-US" sz="1650" dirty="0">
                <a:solidFill>
                  <a:srgbClr val="586575"/>
                </a:solidFill>
              </a:rPr>
              <a:t> </a:t>
            </a:r>
            <a:r>
              <a:rPr sz="1650" dirty="0" err="1">
                <a:solidFill>
                  <a:srgbClr val="586575"/>
                </a:solidFill>
              </a:rPr>
              <a:t>だけ</a:t>
            </a:r>
            <a:r>
              <a:rPr sz="1650" dirty="0">
                <a:solidFill>
                  <a:srgbClr val="586575"/>
                </a:solidFill>
              </a:rPr>
              <a:t>。</a:t>
            </a:r>
            <a:endParaRPr lang="en-US" sz="1650" dirty="0">
              <a:solidFill>
                <a:srgbClr val="586575"/>
              </a:solidFill>
            </a:endParaRPr>
          </a:p>
          <a:p>
            <a:pPr>
              <a:defRPr sz="1650">
                <a:solidFill>
                  <a:srgbClr val="586575"/>
                </a:solidFill>
              </a:defRPr>
            </a:pPr>
            <a:r>
              <a:rPr sz="1650" dirty="0" err="1">
                <a:solidFill>
                  <a:srgbClr val="586575"/>
                </a:solidFill>
              </a:rPr>
              <a:t>AIの使い方を説明する前に、できた体験を作る</a:t>
            </a:r>
            <a:r>
              <a:rPr sz="1650" dirty="0">
                <a:solidFill>
                  <a:srgbClr val="586575"/>
                </a:solidFill>
              </a:rPr>
              <a:t>。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74C76DC-8246-4DEB-96CB-A8A9949327B6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22479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CDB08FD-09A3-497B-AFF3-91285D36868C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47B7B"/>
                </a:solidFill>
              </a:defRPr>
            </a:pPr>
            <a:r>
              <a:rPr sz="1875" b="1">
                <a:solidFill>
                  <a:srgbClr val="047B7B"/>
                </a:solidFill>
              </a:rPr>
              <a:t>01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394F0C4-494D-4259-B7E3-4F8C03F16BA3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サイトを開く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12B3256-67CC-481C-8575-B4959F707202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86575"/>
                </a:solidFill>
              </a:defRPr>
            </a:pPr>
            <a:r>
              <a:rPr sz="1200">
                <a:solidFill>
                  <a:srgbClr val="586575"/>
                </a:solidFill>
              </a:rPr>
              <a:t>AIテーマパークの入口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5089D39-1707-4F5A-9DD6-CF94BDC04268}"/>
              </a:ext>
            </a:extLst>
          </p:cNvPr>
          <p:cNvSpPr>
            <a:spLocks noGrp="1"/>
          </p:cNvSpPr>
          <p:nvPr/>
        </p:nvSpPr>
        <p:spPr>
          <a:xfrm>
            <a:off x="3009900" y="3829050"/>
            <a:ext cx="28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AAB3BD"/>
                </a:solidFill>
              </a:defRPr>
            </a:pPr>
            <a:r>
              <a:rPr sz="2100" b="1">
                <a:solidFill>
                  <a:srgbClr val="AAB3BD"/>
                </a:solidFill>
              </a:rPr>
              <a:t>→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6AF5054-E1C9-4735-A80C-671E19561014}"/>
              </a:ext>
            </a:extLst>
          </p:cNvPr>
          <p:cNvSpPr>
            <a:spLocks noGrp="1"/>
          </p:cNvSpPr>
          <p:nvPr/>
        </p:nvSpPr>
        <p:spPr>
          <a:xfrm>
            <a:off x="3390900" y="3314700"/>
            <a:ext cx="22479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50FE97B-65FE-461B-B8A1-4E3423E3F75A}"/>
              </a:ext>
            </a:extLst>
          </p:cNvPr>
          <p:cNvSpPr>
            <a:spLocks noGrp="1"/>
          </p:cNvSpPr>
          <p:nvPr/>
        </p:nvSpPr>
        <p:spPr>
          <a:xfrm>
            <a:off x="3581400" y="3562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FC83D"/>
                </a:solidFill>
              </a:defRPr>
            </a:pPr>
            <a:r>
              <a:rPr sz="1875" b="1">
                <a:solidFill>
                  <a:srgbClr val="FFC83D"/>
                </a:solidFill>
              </a:rPr>
              <a:t>02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C91ED27-DCEA-4F3C-ABBA-438AE871D1CF}"/>
              </a:ext>
            </a:extLst>
          </p:cNvPr>
          <p:cNvSpPr>
            <a:spLocks noGrp="1"/>
          </p:cNvSpPr>
          <p:nvPr/>
        </p:nvSpPr>
        <p:spPr>
          <a:xfrm>
            <a:off x="3581400" y="39814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5問診断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49CAF27-0A72-40D4-8E99-4A79E600E7C9}"/>
              </a:ext>
            </a:extLst>
          </p:cNvPr>
          <p:cNvSpPr>
            <a:spLocks noGrp="1"/>
          </p:cNvSpPr>
          <p:nvPr/>
        </p:nvSpPr>
        <p:spPr>
          <a:xfrm>
            <a:off x="3581400" y="43624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86575"/>
                </a:solidFill>
              </a:defRPr>
            </a:pPr>
            <a:r>
              <a:rPr sz="1200" dirty="0" err="1">
                <a:solidFill>
                  <a:srgbClr val="586575"/>
                </a:solidFill>
              </a:rPr>
              <a:t>おすすめAIを表示</a:t>
            </a:r>
            <a:endParaRPr sz="1200" dirty="0">
              <a:solidFill>
                <a:srgbClr val="586575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DC1C03D-D601-4373-BD69-2C5EE8D463EF}"/>
              </a:ext>
            </a:extLst>
          </p:cNvPr>
          <p:cNvSpPr>
            <a:spLocks noGrp="1"/>
          </p:cNvSpPr>
          <p:nvPr/>
        </p:nvSpPr>
        <p:spPr>
          <a:xfrm>
            <a:off x="5715000" y="3829050"/>
            <a:ext cx="28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AAB3BD"/>
                </a:solidFill>
              </a:defRPr>
            </a:pPr>
            <a:r>
              <a:rPr sz="2100" b="1">
                <a:solidFill>
                  <a:srgbClr val="AAB3BD"/>
                </a:solidFill>
              </a:rPr>
              <a:t>→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2A10E06D-1E3B-4B1C-8966-05A52DF84D14}"/>
              </a:ext>
            </a:extLst>
          </p:cNvPr>
          <p:cNvSpPr>
            <a:spLocks noGrp="1"/>
          </p:cNvSpPr>
          <p:nvPr/>
        </p:nvSpPr>
        <p:spPr>
          <a:xfrm>
            <a:off x="6096000" y="3314700"/>
            <a:ext cx="22479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4D28F63-0E3B-4185-8144-4AE633031EC7}"/>
              </a:ext>
            </a:extLst>
          </p:cNvPr>
          <p:cNvSpPr>
            <a:spLocks noGrp="1"/>
          </p:cNvSpPr>
          <p:nvPr/>
        </p:nvSpPr>
        <p:spPr>
          <a:xfrm>
            <a:off x="6286500" y="3562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F6B5F"/>
                </a:solidFill>
              </a:defRPr>
            </a:pPr>
            <a:r>
              <a:rPr sz="1875" b="1">
                <a:solidFill>
                  <a:srgbClr val="FF6B5F"/>
                </a:solidFill>
              </a:rPr>
              <a:t>03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6E71CCE-699C-4BA1-8041-70B91D19BC72}"/>
              </a:ext>
            </a:extLst>
          </p:cNvPr>
          <p:cNvSpPr>
            <a:spLocks noGrp="1"/>
          </p:cNvSpPr>
          <p:nvPr/>
        </p:nvSpPr>
        <p:spPr>
          <a:xfrm>
            <a:off x="6286500" y="39814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遊ぶを押す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AD50EE-B19B-4237-90CE-5F5895D53178}"/>
              </a:ext>
            </a:extLst>
          </p:cNvPr>
          <p:cNvSpPr>
            <a:spLocks noGrp="1"/>
          </p:cNvSpPr>
          <p:nvPr/>
        </p:nvSpPr>
        <p:spPr>
          <a:xfrm>
            <a:off x="6286500" y="43624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86575"/>
                </a:solidFill>
              </a:defRPr>
            </a:pPr>
            <a:r>
              <a:rPr sz="1200">
                <a:solidFill>
                  <a:srgbClr val="586575"/>
                </a:solidFill>
              </a:rPr>
              <a:t>専用プロンプトを表示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7DA5744-4996-4C9F-AF20-32885C900C3C}"/>
              </a:ext>
            </a:extLst>
          </p:cNvPr>
          <p:cNvSpPr>
            <a:spLocks noGrp="1"/>
          </p:cNvSpPr>
          <p:nvPr/>
        </p:nvSpPr>
        <p:spPr>
          <a:xfrm>
            <a:off x="8420100" y="3829050"/>
            <a:ext cx="28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AAB3BD"/>
                </a:solidFill>
              </a:defRPr>
            </a:pPr>
            <a:r>
              <a:rPr sz="2100" b="1">
                <a:solidFill>
                  <a:srgbClr val="AAB3BD"/>
                </a:solidFill>
              </a:rPr>
              <a:t>→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5117BD5F-7197-40FA-A8A5-AACC62A457F1}"/>
              </a:ext>
            </a:extLst>
          </p:cNvPr>
          <p:cNvSpPr>
            <a:spLocks noGrp="1"/>
          </p:cNvSpPr>
          <p:nvPr/>
        </p:nvSpPr>
        <p:spPr>
          <a:xfrm>
            <a:off x="8801100" y="3314700"/>
            <a:ext cx="22479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FD17C07-3472-49DD-85E1-DA61E67FD7C9}"/>
              </a:ext>
            </a:extLst>
          </p:cNvPr>
          <p:cNvSpPr>
            <a:spLocks noGrp="1"/>
          </p:cNvSpPr>
          <p:nvPr/>
        </p:nvSpPr>
        <p:spPr>
          <a:xfrm>
            <a:off x="8991600" y="3562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3978E8"/>
                </a:solidFill>
              </a:defRPr>
            </a:pPr>
            <a:r>
              <a:rPr sz="1875" b="1">
                <a:solidFill>
                  <a:srgbClr val="3978E8"/>
                </a:solidFill>
              </a:rPr>
              <a:t>04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99AA2CD-1E83-40EF-A90C-939A95F31460}"/>
              </a:ext>
            </a:extLst>
          </p:cNvPr>
          <p:cNvSpPr>
            <a:spLocks noGrp="1"/>
          </p:cNvSpPr>
          <p:nvPr/>
        </p:nvSpPr>
        <p:spPr>
          <a:xfrm>
            <a:off x="8991600" y="39814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コピー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630CFFB-F7AD-4D36-A62B-A90B691FD20A}"/>
              </a:ext>
            </a:extLst>
          </p:cNvPr>
          <p:cNvSpPr>
            <a:spLocks noGrp="1"/>
          </p:cNvSpPr>
          <p:nvPr/>
        </p:nvSpPr>
        <p:spPr>
          <a:xfrm>
            <a:off x="8991600" y="43624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86575"/>
                </a:solidFill>
              </a:defRPr>
            </a:pPr>
            <a:r>
              <a:rPr sz="1200">
                <a:solidFill>
                  <a:srgbClr val="586575"/>
                </a:solidFill>
              </a:rPr>
              <a:t>貼るだけで開始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A9C3B7A0-1672-45F2-9B92-28B9485C7B3F}"/>
              </a:ext>
            </a:extLst>
          </p:cNvPr>
          <p:cNvSpPr>
            <a:spLocks noGrp="1"/>
          </p:cNvSpPr>
          <p:nvPr/>
        </p:nvSpPr>
        <p:spPr>
          <a:xfrm>
            <a:off x="723900" y="5240927"/>
            <a:ext cx="49149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8E7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4749182-28BB-4DCF-9592-0F5365FCA360}"/>
              </a:ext>
            </a:extLst>
          </p:cNvPr>
          <p:cNvSpPr>
            <a:spLocks noGrp="1"/>
          </p:cNvSpPr>
          <p:nvPr/>
        </p:nvSpPr>
        <p:spPr>
          <a:xfrm>
            <a:off x="882287" y="5363664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47B7B"/>
                </a:solidFill>
              </a:defRPr>
            </a:pPr>
            <a:r>
              <a:rPr sz="1350" b="1" dirty="0" err="1">
                <a:solidFill>
                  <a:srgbClr val="047B7B"/>
                </a:solidFill>
              </a:rPr>
              <a:t>デモで見せること</a:t>
            </a:r>
            <a:endParaRPr sz="1350" b="1" dirty="0">
              <a:solidFill>
                <a:srgbClr val="047B7B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5802AB5-5B85-4E50-BC6A-860766FD489E}"/>
              </a:ext>
            </a:extLst>
          </p:cNvPr>
          <p:cNvSpPr>
            <a:spLocks noGrp="1"/>
          </p:cNvSpPr>
          <p:nvPr/>
        </p:nvSpPr>
        <p:spPr>
          <a:xfrm>
            <a:off x="876300" y="5648325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7202A"/>
                </a:solidFill>
              </a:defRPr>
            </a:pPr>
            <a:r>
              <a:rPr sz="1275" dirty="0" err="1">
                <a:solidFill>
                  <a:srgbClr val="17202A"/>
                </a:solidFill>
              </a:rPr>
              <a:t>診断</a:t>
            </a:r>
            <a:r>
              <a:rPr sz="1275" dirty="0">
                <a:solidFill>
                  <a:srgbClr val="17202A"/>
                </a:solidFill>
              </a:rPr>
              <a:t> → </a:t>
            </a:r>
            <a:r>
              <a:rPr sz="1275" dirty="0" err="1">
                <a:solidFill>
                  <a:srgbClr val="17202A"/>
                </a:solidFill>
              </a:rPr>
              <a:t>おすすめ表示</a:t>
            </a:r>
            <a:r>
              <a:rPr sz="1275" dirty="0">
                <a:solidFill>
                  <a:srgbClr val="17202A"/>
                </a:solidFill>
              </a:rPr>
              <a:t> → </a:t>
            </a:r>
            <a:r>
              <a:rPr sz="1275" dirty="0" err="1">
                <a:solidFill>
                  <a:srgbClr val="17202A"/>
                </a:solidFill>
              </a:rPr>
              <a:t>選択</a:t>
            </a:r>
            <a:r>
              <a:rPr sz="1275" dirty="0">
                <a:solidFill>
                  <a:srgbClr val="17202A"/>
                </a:solidFill>
              </a:rPr>
              <a:t> → </a:t>
            </a:r>
            <a:r>
              <a:rPr sz="1275" dirty="0" err="1">
                <a:solidFill>
                  <a:srgbClr val="17202A"/>
                </a:solidFill>
              </a:rPr>
              <a:t>コピ</a:t>
            </a:r>
            <a:r>
              <a:rPr sz="1275" dirty="0">
                <a:solidFill>
                  <a:srgbClr val="17202A"/>
                </a:solidFill>
              </a:rPr>
              <a:t>ー → </a:t>
            </a:r>
            <a:r>
              <a:rPr sz="1275" dirty="0" err="1">
                <a:solidFill>
                  <a:srgbClr val="17202A"/>
                </a:solidFill>
              </a:rPr>
              <a:t>ChatGPTへ</a:t>
            </a:r>
            <a:endParaRPr sz="1275" dirty="0">
              <a:solidFill>
                <a:srgbClr val="17202A"/>
              </a:solidFill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CF3C2BEA-7EA7-442C-80C1-58746A3DFA22}"/>
              </a:ext>
            </a:extLst>
          </p:cNvPr>
          <p:cNvSpPr>
            <a:spLocks noGrp="1"/>
          </p:cNvSpPr>
          <p:nvPr/>
        </p:nvSpPr>
        <p:spPr>
          <a:xfrm>
            <a:off x="5952035" y="5229224"/>
            <a:ext cx="5153025" cy="781051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FFC7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6283FE9-ABF6-4144-865F-0332200EF4CA}"/>
              </a:ext>
            </a:extLst>
          </p:cNvPr>
          <p:cNvSpPr>
            <a:spLocks noGrp="1"/>
          </p:cNvSpPr>
          <p:nvPr/>
        </p:nvSpPr>
        <p:spPr>
          <a:xfrm>
            <a:off x="6143625" y="53125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6B5F"/>
                </a:solidFill>
              </a:defRPr>
            </a:pPr>
            <a:r>
              <a:rPr sz="1350" b="1" dirty="0" err="1">
                <a:solidFill>
                  <a:srgbClr val="FF6B5F"/>
                </a:solidFill>
              </a:rPr>
              <a:t>完成度</a:t>
            </a:r>
            <a:r>
              <a:rPr sz="1350" b="1" dirty="0">
                <a:solidFill>
                  <a:srgbClr val="FF6B5F"/>
                </a:solidFill>
              </a:rPr>
              <a:t> / </a:t>
            </a:r>
            <a:r>
              <a:rPr sz="1350" b="1" dirty="0" err="1">
                <a:solidFill>
                  <a:srgbClr val="FF6B5F"/>
                </a:solidFill>
              </a:rPr>
              <a:t>削ったもの</a:t>
            </a:r>
            <a:endParaRPr sz="1350" b="1" dirty="0">
              <a:solidFill>
                <a:srgbClr val="FF6B5F"/>
              </a:solidFill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5A683CC-427E-40C4-8262-5327CFDF9CE9}"/>
              </a:ext>
            </a:extLst>
          </p:cNvPr>
          <p:cNvSpPr>
            <a:spLocks noGrp="1"/>
          </p:cNvSpPr>
          <p:nvPr/>
        </p:nvSpPr>
        <p:spPr>
          <a:xfrm>
            <a:off x="6134100" y="5610225"/>
            <a:ext cx="508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7202A"/>
                </a:solidFill>
              </a:defRPr>
            </a:pPr>
            <a:r>
              <a:rPr sz="1275" dirty="0" err="1">
                <a:solidFill>
                  <a:srgbClr val="17202A"/>
                </a:solidFill>
              </a:rPr>
              <a:t>静的サイトとして動作。ログイン、履歴保存、API接続は削った</a:t>
            </a:r>
            <a:r>
              <a:rPr sz="1275" dirty="0">
                <a:solidFill>
                  <a:srgbClr val="17202A"/>
                </a:solidFill>
              </a:rPr>
              <a:t>。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7C616D0-C523-4750-9943-61E99E5B90A4}"/>
              </a:ext>
            </a:extLst>
          </p:cNvPr>
          <p:cNvSpPr>
            <a:spLocks noGrp="1"/>
          </p:cNvSpPr>
          <p:nvPr/>
        </p:nvSpPr>
        <p:spPr>
          <a:xfrm>
            <a:off x="11106150" y="61341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9AA6B2"/>
                </a:solidFill>
              </a:defRPr>
            </a:pPr>
            <a:r>
              <a:rPr sz="1350" b="1">
                <a:solidFill>
                  <a:srgbClr val="9AA6B2"/>
                </a:solidFill>
              </a:rPr>
              <a:t>03</a:t>
            </a:r>
          </a:p>
        </p:txBody>
      </p:sp>
      <p:pic>
        <p:nvPicPr>
          <p:cNvPr id="40" name="図 39">
            <a:extLst>
              <a:ext uri="{FF2B5EF4-FFF2-40B4-BE49-F238E27FC236}">
                <a16:creationId xmlns:a16="http://schemas.microsoft.com/office/drawing/2014/main" id="{C8E8F06F-4824-A823-C57E-83C6FA3A0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004" y="238195"/>
            <a:ext cx="2869791" cy="288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7632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Office PowerPoint</Application>
  <DocSecurity>0</DocSecurity>
  <PresentationFormat>ワイド画面</PresentationFormat>
  <Paragraphs>63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5" baseType="lpstr">
      <vt:lpstr>Calibri</vt:lpstr>
      <vt:lpstr>ChatGPT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安達　鷹人</cp:lastModifiedBy>
  <cp:revision>1</cp:revision>
  <dcterms:created xsi:type="dcterms:W3CDTF">2026-06-20T08:52:04Z</dcterms:created>
  <dcterms:modified xsi:type="dcterms:W3CDTF">2026-06-20T09:02:54Z</dcterms:modified>
</cp:coreProperties>
</file>